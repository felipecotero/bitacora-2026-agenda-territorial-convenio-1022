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2"/>
    <p:restoredTop sz="94707"/>
  </p:normalViewPr>
  <p:slideViewPr>
    <p:cSldViewPr snapToGrid="0" snapToObjects="1">
      <p:cViewPr varScale="1">
        <p:scale>
          <a:sx n="145" d="100"/>
          <a:sy n="145" d="100"/>
        </p:scale>
        <p:origin x="10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365760"/>
            <a:ext cx="685957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D0F2E"/>
                </a:solidFill>
                <a:latin typeface="Bricolage Grotesque"/>
              </a:defRPr>
            </a:pPr>
            <a:r>
              <a:rPr dirty="0">
                <a:latin typeface="Bricolage Grotesque 14pt" panose="020B0605040402000204" pitchFamily="34" charset="0"/>
              </a:rPr>
              <a:t>Ciclo de </a:t>
            </a:r>
            <a:r>
              <a:rPr dirty="0" err="1">
                <a:latin typeface="Bricolage Grotesque 14pt" panose="020B0605040402000204" pitchFamily="34" charset="0"/>
              </a:rPr>
              <a:t>Formación</a:t>
            </a:r>
            <a:r>
              <a:rPr dirty="0">
                <a:latin typeface="Bricolage Grotesque 14pt" panose="020B0605040402000204" pitchFamily="34" charset="0"/>
              </a:rPr>
              <a:t> Puente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9666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D97B3F"/>
                </a:solidFill>
                <a:latin typeface="Caveat"/>
              </a:defRPr>
            </a:pPr>
            <a:r>
              <a:rPr dirty="0"/>
              <a:t>Camino Uno — </a:t>
            </a:r>
            <a:r>
              <a:rPr dirty="0" err="1"/>
              <a:t>Sesiones</a:t>
            </a:r>
            <a:r>
              <a:rPr dirty="0"/>
              <a:t> de </a:t>
            </a:r>
            <a:r>
              <a:rPr dirty="0" err="1"/>
              <a:t>Formación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548640"/>
            <a:ext cx="2286000" cy="731520"/>
          </a:xfrm>
          <a:prstGeom prst="roundRect">
            <a:avLst>
              <a:gd name="adj" fmla="val 50000"/>
            </a:avLst>
          </a:prstGeom>
          <a:solidFill>
            <a:srgbClr val="5A3680"/>
          </a:solidFill>
          <a:ln>
            <a:solidFill>
              <a:srgbClr val="5A3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MAYO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90195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5A3680"/>
          </a:solidFill>
          <a:ln>
            <a:solidFill>
              <a:srgbClr val="5A3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rPr dirty="0"/>
              <a:t>MAY</a:t>
            </a:r>
            <a:br>
              <a:rPr dirty="0"/>
            </a:br>
            <a:endParaRPr dirty="0"/>
          </a:p>
          <a:p>
            <a:pPr algn="ctr">
              <a:lnSpc>
                <a:spcPts val="104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rPr dirty="0"/>
              <a:t>11</a:t>
            </a:r>
            <a:br>
              <a:rPr dirty="0"/>
            </a:br>
            <a:endParaRPr dirty="0"/>
          </a:p>
          <a:p>
            <a:pPr algn="ctr">
              <a:lnSpc>
                <a:spcPts val="104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rPr dirty="0"/>
              <a:t>LUN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5A3680"/>
                </a:solidFill>
                <a:latin typeface="DM Sans"/>
              </a:defRPr>
            </a:pPr>
            <a:r>
              <a:t>SESIÓN INAUGURAL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Presentación del Ciclo de Formación Puente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2316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Yuli · 18:00–19:30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190195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438A"/>
          </a:solidFill>
          <a:ln>
            <a:solidFill>
              <a:srgbClr val="A8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t>MAY</a:t>
            </a:r>
            <a:br/>
            <a:endParaRPr/>
          </a:p>
          <a:p>
            <a:pPr algn="ctr">
              <a:lnSpc>
                <a:spcPts val="104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t>13</a:t>
            </a:r>
            <a:br/>
            <a:endParaRPr/>
          </a:p>
          <a:p>
            <a:pPr algn="ctr">
              <a:lnSpc>
                <a:spcPts val="104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t>MIÉ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A8438A"/>
                </a:solidFill>
                <a:latin typeface="DM Sans"/>
              </a:defRPr>
            </a:pPr>
            <a:r>
              <a:t>SABERES FINANCIEROS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0312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Finanzas personales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2316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Mercy · 18:30–20:00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290779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E8C535"/>
          </a:solidFill>
          <a:ln>
            <a:solidFill>
              <a:srgbClr val="E8C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1D0F2E"/>
                </a:solidFill>
                <a:latin typeface="DM Sans"/>
              </a:defRPr>
            </a:pPr>
            <a:r>
              <a:rPr dirty="0"/>
              <a:t>MAY</a:t>
            </a:r>
            <a:br>
              <a:rPr lang="es-CO" dirty="0"/>
            </a:br>
            <a:endParaRPr lang="es-CO" dirty="0"/>
          </a:p>
          <a:p>
            <a:pPr algn="ctr">
              <a:lnSpc>
                <a:spcPts val="1040"/>
              </a:lnSpc>
              <a:defRPr sz="2200" b="1">
                <a:solidFill>
                  <a:srgbClr val="1D0F2E"/>
                </a:solidFill>
                <a:latin typeface="Bricolage Grotesque"/>
              </a:defRPr>
            </a:pPr>
            <a:r>
              <a:rPr lang="es-CO" dirty="0"/>
              <a:t>15</a:t>
            </a:r>
            <a:br>
              <a:rPr lang="es-CO" dirty="0"/>
            </a:br>
            <a:endParaRPr lang="es-CO" dirty="0"/>
          </a:p>
          <a:p>
            <a:pPr algn="ctr">
              <a:lnSpc>
                <a:spcPts val="1040"/>
              </a:lnSpc>
              <a:defRPr sz="900">
                <a:solidFill>
                  <a:srgbClr val="1D0F2E"/>
                </a:solidFill>
                <a:latin typeface="DM Sans"/>
              </a:defRPr>
            </a:pPr>
            <a:r>
              <a:rPr dirty="0"/>
              <a:t>VIE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2608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E8C535"/>
                </a:solidFill>
                <a:latin typeface="DM Sans"/>
              </a:defRPr>
            </a:pPr>
            <a:r>
              <a:t>COMUNICACIONES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10896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Desde dónde hablamos — Comunicaciones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2900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Felipe · 17:30–19:00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34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63640" y="290779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D97B3F"/>
          </a:solidFill>
          <a:ln>
            <a:solidFill>
              <a:srgbClr val="D9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t>MAY</a:t>
            </a:r>
            <a:br/>
            <a:endParaRPr/>
          </a:p>
          <a:p>
            <a:pPr algn="ctr">
              <a:lnSpc>
                <a:spcPts val="104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t>19</a:t>
            </a:r>
            <a:br/>
            <a:endParaRPr/>
          </a:p>
          <a:p>
            <a:pPr algn="ctr">
              <a:lnSpc>
                <a:spcPts val="104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t>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2608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D97B3F"/>
                </a:solidFill>
                <a:latin typeface="DM Sans"/>
              </a:defRPr>
            </a:pPr>
            <a:r>
              <a:t>SABERES RIJ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10896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Contexto: curar el entorno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42900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Jeimmy · 10:00–11:30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404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391363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E8C535"/>
          </a:solidFill>
          <a:ln>
            <a:solidFill>
              <a:srgbClr val="E8C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1D0F2E"/>
                </a:solidFill>
                <a:latin typeface="DM Sans"/>
              </a:defRPr>
            </a:pPr>
            <a:r>
              <a:t>MAY</a:t>
            </a:r>
            <a:br/>
            <a:endParaRPr/>
          </a:p>
          <a:p>
            <a:pPr algn="ctr">
              <a:lnSpc>
                <a:spcPts val="1040"/>
              </a:lnSpc>
              <a:defRPr sz="2200" b="1">
                <a:solidFill>
                  <a:srgbClr val="1D0F2E"/>
                </a:solidFill>
                <a:latin typeface="Bricolage Grotesque"/>
              </a:defRPr>
            </a:pPr>
            <a:r>
              <a:t>22</a:t>
            </a:r>
            <a:br/>
            <a:endParaRPr/>
          </a:p>
          <a:p>
            <a:pPr algn="ctr">
              <a:lnSpc>
                <a:spcPts val="1040"/>
              </a:lnSpc>
              <a:defRPr sz="900">
                <a:solidFill>
                  <a:srgbClr val="1D0F2E"/>
                </a:solidFill>
                <a:latin typeface="DM Sans"/>
              </a:defRPr>
            </a:pPr>
            <a:r>
              <a:t>VIE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93192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E8C535"/>
                </a:solidFill>
                <a:latin typeface="DM Sans"/>
              </a:defRPr>
            </a:pPr>
            <a:r>
              <a:t>COMUNICACIONES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11480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Decidir qué se dice y qué se cuida — Com.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4348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Felipe · 17:30–19:00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8404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63640" y="391363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438A"/>
          </a:solidFill>
          <a:ln>
            <a:solidFill>
              <a:srgbClr val="A8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t>MAY</a:t>
            </a:r>
            <a:br/>
            <a:endParaRPr/>
          </a:p>
          <a:p>
            <a:pPr algn="ctr">
              <a:lnSpc>
                <a:spcPts val="104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t>23</a:t>
            </a:r>
            <a:br/>
            <a:endParaRPr/>
          </a:p>
          <a:p>
            <a:pPr algn="ctr">
              <a:lnSpc>
                <a:spcPts val="104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t>SÁB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93192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A8438A"/>
                </a:solidFill>
                <a:latin typeface="DM Sans"/>
              </a:defRPr>
            </a:pPr>
            <a:r>
              <a:t>SABERES FINANCIEROS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11480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Diversificación de ingresos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4348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Mercy · 17:30–19:00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8463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8680" y="491947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D97B3F"/>
          </a:solidFill>
          <a:ln>
            <a:solidFill>
              <a:srgbClr val="D9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4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t>MAY</a:t>
            </a:r>
            <a:br/>
            <a:endParaRPr/>
          </a:p>
          <a:p>
            <a:pPr algn="ctr">
              <a:lnSpc>
                <a:spcPts val="104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t>25</a:t>
            </a:r>
            <a:br/>
            <a:endParaRPr/>
          </a:p>
          <a:p>
            <a:pPr algn="ctr">
              <a:lnSpc>
                <a:spcPts val="104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t>LUN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493776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D97B3F"/>
                </a:solidFill>
                <a:latin typeface="DM Sans"/>
              </a:defRPr>
            </a:pPr>
            <a:r>
              <a:t>SABERES RIJ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120640"/>
            <a:ext cx="39319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t>Reciprocidad: la ética de la corresponsabilidad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544068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Jeimmy · 18:30–20:00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365760"/>
            <a:ext cx="685957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D0F2E"/>
                </a:solidFill>
                <a:latin typeface="Bricolage Grotesque"/>
              </a:defRPr>
            </a:pPr>
            <a:r>
              <a:rPr dirty="0">
                <a:latin typeface="Bricolage Grotesque 14pt" panose="020B0605040402000204" pitchFamily="34" charset="0"/>
              </a:rPr>
              <a:t>Ciclo de </a:t>
            </a:r>
            <a:r>
              <a:rPr dirty="0" err="1">
                <a:latin typeface="Bricolage Grotesque 14pt" panose="020B0605040402000204" pitchFamily="34" charset="0"/>
              </a:rPr>
              <a:t>Formación</a:t>
            </a:r>
            <a:r>
              <a:rPr dirty="0">
                <a:latin typeface="Bricolage Grotesque 14pt" panose="020B0605040402000204" pitchFamily="34" charset="0"/>
              </a:rPr>
              <a:t> Puente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59666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D97B3F"/>
                </a:solidFill>
                <a:latin typeface="Caveat"/>
              </a:defRPr>
            </a:pPr>
            <a:r>
              <a:rPr dirty="0"/>
              <a:t>Camino Uno — </a:t>
            </a:r>
            <a:r>
              <a:rPr dirty="0" err="1"/>
              <a:t>Sesiones</a:t>
            </a:r>
            <a:r>
              <a:rPr dirty="0"/>
              <a:t> de </a:t>
            </a:r>
            <a:r>
              <a:rPr dirty="0" err="1"/>
              <a:t>Formación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0" y="548640"/>
            <a:ext cx="2286000" cy="731520"/>
          </a:xfrm>
          <a:prstGeom prst="roundRect">
            <a:avLst>
              <a:gd name="adj" fmla="val 50000"/>
            </a:avLst>
          </a:prstGeom>
          <a:solidFill>
            <a:srgbClr val="528E71"/>
          </a:solidFill>
          <a:ln>
            <a:solidFill>
              <a:srgbClr val="528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Bricolage Grotesque"/>
              </a:defRPr>
            </a:pPr>
            <a:r>
              <a:rPr dirty="0"/>
              <a:t>JUNIO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90195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438A"/>
          </a:solidFill>
          <a:ln>
            <a:solidFill>
              <a:srgbClr val="A8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0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rPr dirty="0">
                <a:latin typeface="Bricolage Grotesque 14pt" panose="020B0605040402000204" pitchFamily="34" charset="0"/>
              </a:rPr>
              <a:t>JUN</a:t>
            </a:r>
            <a:br>
              <a:rPr dirty="0">
                <a:latin typeface="Bricolage Grotesque 14pt" panose="020B0605040402000204" pitchFamily="34" charset="0"/>
              </a:rPr>
            </a:br>
            <a:endParaRPr dirty="0"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rPr dirty="0">
                <a:latin typeface="Bricolage Grotesque 14pt" panose="020B0605040402000204" pitchFamily="34" charset="0"/>
              </a:rPr>
              <a:t>01</a:t>
            </a:r>
            <a:br>
              <a:rPr dirty="0">
                <a:latin typeface="Bricolage Grotesque 14pt" panose="020B0605040402000204" pitchFamily="34" charset="0"/>
              </a:rPr>
            </a:br>
            <a:endParaRPr dirty="0"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rPr dirty="0">
                <a:latin typeface="Bricolage Grotesque 14pt" panose="020B0605040402000204" pitchFamily="34" charset="0"/>
              </a:rPr>
              <a:t>LUN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202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A8438A"/>
                </a:solidFill>
                <a:latin typeface="DM Sans"/>
              </a:defRPr>
            </a:pPr>
            <a:r>
              <a:t>SABERES FINANCIEROS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1185581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rPr dirty="0" err="1">
                <a:latin typeface="Bricolage Grotesque 14pt" panose="020B0605040402000204" pitchFamily="34" charset="0"/>
              </a:rPr>
              <a:t>Flujo</a:t>
            </a:r>
            <a:r>
              <a:rPr dirty="0">
                <a:latin typeface="Bricolage Grotesque 14pt" panose="020B0605040402000204" pitchFamily="34" charset="0"/>
              </a:rPr>
              <a:t> de </a:t>
            </a:r>
            <a:r>
              <a:rPr dirty="0" err="1">
                <a:latin typeface="Bricolage Grotesque 14pt" panose="020B0605040402000204" pitchFamily="34" charset="0"/>
              </a:rPr>
              <a:t>caja</a:t>
            </a:r>
            <a:endParaRPr dirty="0">
              <a:latin typeface="Bricolage Grotesque 14pt" panose="020B060504040200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0" y="242316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Mercy · 18:30–20:00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190195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D97B3F"/>
          </a:solidFill>
          <a:ln>
            <a:solidFill>
              <a:srgbClr val="D9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0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rPr>
                <a:latin typeface="Bricolage Grotesque 14pt" panose="020B0605040402000204" pitchFamily="34" charset="0"/>
              </a:rPr>
              <a:t>JUN</a:t>
            </a:r>
            <a:br>
              <a:rPr>
                <a:latin typeface="Bricolage Grotesque 14pt" panose="020B0605040402000204" pitchFamily="34" charset="0"/>
              </a:rPr>
            </a:br>
            <a:endParaRPr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02</a:t>
            </a:r>
            <a:br>
              <a:rPr>
                <a:latin typeface="Bricolage Grotesque 14pt" panose="020B0605040402000204" pitchFamily="34" charset="0"/>
              </a:rPr>
            </a:br>
            <a:endParaRPr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rPr>
                <a:latin typeface="Bricolage Grotesque 14pt" panose="020B0605040402000204" pitchFamily="34" charset="0"/>
              </a:rP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D97B3F"/>
                </a:solidFill>
                <a:latin typeface="DM Sans"/>
              </a:defRPr>
            </a:pPr>
            <a:r>
              <a:t>SABERES RIJ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03120"/>
            <a:ext cx="3093154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Flujo del ser: la coherencia interna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2316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Jeimmy · 18:30–20:00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290779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A8438A"/>
          </a:solidFill>
          <a:ln>
            <a:solidFill>
              <a:srgbClr val="A8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0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rPr dirty="0">
                <a:latin typeface="Bricolage Grotesque 14pt" panose="020B0605040402000204" pitchFamily="34" charset="0"/>
              </a:rPr>
              <a:t>JUN</a:t>
            </a:r>
            <a:br>
              <a:rPr dirty="0">
                <a:latin typeface="Bricolage Grotesque 14pt" panose="020B0605040402000204" pitchFamily="34" charset="0"/>
              </a:rPr>
            </a:br>
            <a:endParaRPr dirty="0"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rPr dirty="0">
                <a:latin typeface="Bricolage Grotesque 14pt" panose="020B0605040402000204" pitchFamily="34" charset="0"/>
              </a:rPr>
              <a:t>03</a:t>
            </a:r>
            <a:br>
              <a:rPr dirty="0">
                <a:latin typeface="Bricolage Grotesque 14pt" panose="020B0605040402000204" pitchFamily="34" charset="0"/>
              </a:rPr>
            </a:br>
            <a:endParaRPr dirty="0"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rPr dirty="0">
                <a:latin typeface="Bricolage Grotesque 14pt" panose="020B0605040402000204" pitchFamily="34" charset="0"/>
              </a:rPr>
              <a:t>MIÉ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2608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A8438A"/>
                </a:solidFill>
                <a:latin typeface="DM Sans"/>
              </a:defRPr>
            </a:pPr>
            <a:r>
              <a:t>SABERES FINANCIEROS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108960"/>
            <a:ext cx="3384901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Indicadores para el control financiero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2900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Mercy · 17:30–19:00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346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63640" y="290779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D97B3F"/>
          </a:solidFill>
          <a:ln>
            <a:solidFill>
              <a:srgbClr val="D9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0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rPr dirty="0">
                <a:latin typeface="Bricolage Grotesque 14pt" panose="020B0605040402000204" pitchFamily="34" charset="0"/>
              </a:rPr>
              <a:t>JUN</a:t>
            </a:r>
            <a:br>
              <a:rPr dirty="0">
                <a:latin typeface="Bricolage Grotesque 14pt" panose="020B0605040402000204" pitchFamily="34" charset="0"/>
              </a:rPr>
            </a:br>
            <a:endParaRPr dirty="0"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rPr dirty="0">
                <a:latin typeface="Bricolage Grotesque 14pt" panose="020B0605040402000204" pitchFamily="34" charset="0"/>
              </a:rPr>
              <a:t>05</a:t>
            </a:r>
            <a:br>
              <a:rPr dirty="0">
                <a:latin typeface="Bricolage Grotesque 14pt" panose="020B0605040402000204" pitchFamily="34" charset="0"/>
              </a:rPr>
            </a:br>
            <a:endParaRPr dirty="0"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rPr dirty="0">
                <a:latin typeface="Bricolage Grotesque 14pt" panose="020B0605040402000204" pitchFamily="34" charset="0"/>
              </a:rPr>
              <a:t>VIE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2608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D97B3F"/>
                </a:solidFill>
                <a:latin typeface="DM Sans"/>
              </a:defRPr>
            </a:pPr>
            <a:r>
              <a:t>SABERES RIJ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108960"/>
            <a:ext cx="4104650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Herramientas 1: lo político del cuidado situado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42900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Jeimmy · 17:30–19:00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404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BED"/>
          </a:solidFill>
          <a:ln>
            <a:solidFill>
              <a:srgbClr val="C9B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3913632"/>
            <a:ext cx="777240" cy="777240"/>
          </a:xfrm>
          <a:prstGeom prst="roundRect">
            <a:avLst>
              <a:gd name="adj" fmla="val 20000"/>
            </a:avLst>
          </a:prstGeom>
          <a:solidFill>
            <a:srgbClr val="D97B3F"/>
          </a:solidFill>
          <a:ln>
            <a:solidFill>
              <a:srgbClr val="D97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>
              <a:lnSpc>
                <a:spcPts val="1000"/>
              </a:lnSpc>
              <a:defRPr sz="1000" b="1">
                <a:solidFill>
                  <a:srgbClr val="FFFFFF"/>
                </a:solidFill>
                <a:latin typeface="DM Sans"/>
              </a:defRPr>
            </a:pPr>
            <a:r>
              <a:rPr>
                <a:latin typeface="Bricolage Grotesque 14pt" panose="020B0605040402000204" pitchFamily="34" charset="0"/>
              </a:rPr>
              <a:t>JUN</a:t>
            </a:r>
            <a:br>
              <a:rPr>
                <a:latin typeface="Bricolage Grotesque 14pt" panose="020B0605040402000204" pitchFamily="34" charset="0"/>
              </a:rPr>
            </a:br>
            <a:endParaRPr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2200" b="1">
                <a:solidFill>
                  <a:srgbClr val="FFFFFF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22</a:t>
            </a:r>
            <a:br>
              <a:rPr>
                <a:latin typeface="Bricolage Grotesque 14pt" panose="020B0605040402000204" pitchFamily="34" charset="0"/>
              </a:rPr>
            </a:br>
            <a:endParaRPr>
              <a:latin typeface="Bricolage Grotesque 14pt" panose="020B0605040402000204" pitchFamily="34" charset="0"/>
            </a:endParaRPr>
          </a:p>
          <a:p>
            <a:pPr algn="ctr">
              <a:lnSpc>
                <a:spcPts val="1000"/>
              </a:lnSpc>
              <a:defRPr sz="900">
                <a:solidFill>
                  <a:srgbClr val="FFFFFF"/>
                </a:solidFill>
                <a:latin typeface="DM Sans"/>
              </a:defRPr>
            </a:pPr>
            <a:r>
              <a:rPr>
                <a:latin typeface="Bricolage Grotesque 14pt" panose="020B0605040402000204" pitchFamily="34" charset="0"/>
              </a:rPr>
              <a:t>LUN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93192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D97B3F"/>
                </a:solidFill>
                <a:latin typeface="DM Sans"/>
              </a:defRPr>
            </a:pPr>
            <a:r>
              <a:t>SABERES RIJ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114800"/>
            <a:ext cx="4152740" cy="26161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400" b="1">
                <a:solidFill>
                  <a:srgbClr val="1D0F2E"/>
                </a:solidFill>
                <a:latin typeface="Bricolage Grotesque"/>
              </a:defRPr>
            </a:pPr>
            <a:r>
              <a:rPr>
                <a:latin typeface="Bricolage Grotesque 14pt" panose="020B0605040402000204" pitchFamily="34" charset="0"/>
              </a:rPr>
              <a:t>Herramientas 2: lo político del cuidado situado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434840"/>
            <a:ext cx="39319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3A2A52"/>
                </a:solidFill>
                <a:latin typeface="DM Sans"/>
              </a:defRPr>
            </a:pPr>
            <a:r>
              <a:t>Jeimmy · 18:30–20:00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212</Words>
  <Application>Microsoft Macintosh PowerPoint</Application>
  <PresentationFormat>Panorámica</PresentationFormat>
  <Paragraphs>78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Bricolage Grotesque 14pt</vt:lpstr>
      <vt:lpstr>Calibri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Camacho Otero (Invitado)</cp:lastModifiedBy>
  <cp:revision>2</cp:revision>
  <dcterms:created xsi:type="dcterms:W3CDTF">2013-01-27T09:14:16Z</dcterms:created>
  <dcterms:modified xsi:type="dcterms:W3CDTF">2026-05-11T21:01:34Z</dcterms:modified>
  <cp:category/>
</cp:coreProperties>
</file>